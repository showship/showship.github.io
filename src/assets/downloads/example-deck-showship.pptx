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71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B9AE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10A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715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5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C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TUNW17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44" y="658368"/>
            <a:ext cx="521232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592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26974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Development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7" name="Shape 3"/>
          <p:cNvSpPr/>
          <p:nvPr/>
        </p:nvSpPr>
        <p:spPr>
          <a:xfrm>
            <a:off x="640080" y="5577840"/>
            <a:ext cx="2322576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191256" y="5577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91256" y="5577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11" name="Image 2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7607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66960" y="5733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at a Glance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422904" cy="3611880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12700">
            <a:solidFill>
              <a:srgbClr val="DAD2FD"/>
            </a:solidFill>
            <a:prstDash val="solid"/>
          </a:ln>
          <a:effectLst>
            <a:outerShdw sx="100000" sy="100000" kx="0" ky="0" algn="bl" rotWithShape="0" blurRad="152400" dist="38100" dir="5400000">
              <a:srgbClr val="6C4CF5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2011680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EDEAFE"/>
          </a:solidFill>
          <a:ln/>
        </p:spPr>
      </p:sp>
      <p:sp>
        <p:nvSpPr>
          <p:cNvPr id="11" name="Shape 7"/>
          <p:cNvSpPr/>
          <p:nvPr/>
        </p:nvSpPr>
        <p:spPr>
          <a:xfrm>
            <a:off x="987552" y="2148840"/>
            <a:ext cx="109728" cy="109728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2011680"/>
            <a:ext cx="255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391412" y="2560320"/>
            <a:ext cx="1920240" cy="192024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E9E4F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91412" y="2560320"/>
            <a:ext cx="1920240" cy="192024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6C4CF5"/>
          </a:solidFill>
          <a:ln/>
        </p:spPr>
      </p:sp>
      <p:sp>
        <p:nvSpPr>
          <p:cNvPr id="15" name="Text 11"/>
          <p:cNvSpPr/>
          <p:nvPr/>
        </p:nvSpPr>
        <p:spPr>
          <a:xfrm>
            <a:off x="1391412" y="296357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1864614" y="3657600"/>
            <a:ext cx="973836" cy="27432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17" name="Text 13"/>
          <p:cNvSpPr/>
          <p:nvPr/>
        </p:nvSpPr>
        <p:spPr>
          <a:xfrm>
            <a:off x="1864614" y="365760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4400" y="40690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Account Verified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914400" y="4434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383024" y="1783080"/>
            <a:ext cx="3422904" cy="3611880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12700">
            <a:solidFill>
              <a:srgbClr val="C3E9E7"/>
            </a:solidFill>
            <a:prstDash val="solid"/>
          </a:ln>
          <a:effectLst>
            <a:outerShdw sx="100000" sy="100000" kx="0" ky="0" algn="bl" rotWithShape="0" blurRad="152400" dist="38100" dir="5400000">
              <a:srgbClr val="10A6A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1624" y="2011680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E2F4F4"/>
          </a:solidFill>
          <a:ln/>
        </p:spPr>
      </p:sp>
      <p:sp>
        <p:nvSpPr>
          <p:cNvPr id="22" name="Shape 18"/>
          <p:cNvSpPr/>
          <p:nvPr/>
        </p:nvSpPr>
        <p:spPr>
          <a:xfrm>
            <a:off x="4730496" y="2148840"/>
            <a:ext cx="109728" cy="109728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3" name="Text 19"/>
          <p:cNvSpPr/>
          <p:nvPr/>
        </p:nvSpPr>
        <p:spPr>
          <a:xfrm>
            <a:off x="4913376" y="2011680"/>
            <a:ext cx="255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134356" y="2560320"/>
            <a:ext cx="1920240" cy="192024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F2F1"/>
          </a:solidFill>
          <a:ln/>
        </p:spPr>
      </p:sp>
      <p:sp>
        <p:nvSpPr>
          <p:cNvPr id="25" name="Shape 21"/>
          <p:cNvSpPr/>
          <p:nvPr/>
        </p:nvSpPr>
        <p:spPr>
          <a:xfrm>
            <a:off x="5134356" y="2560320"/>
            <a:ext cx="1920240" cy="1920240"/>
          </a:xfrm>
          <a:prstGeom prst="blockArc">
            <a:avLst>
              <a:gd name="adj1" fmla="val 10800000"/>
              <a:gd name="adj2" fmla="val 17820000"/>
              <a:gd name="adj3" fmla="val 11000"/>
            </a:avLst>
          </a:prstGeom>
          <a:solidFill>
            <a:srgbClr val="10A6A0"/>
          </a:solidFill>
          <a:ln/>
        </p:spPr>
      </p:sp>
      <p:sp>
        <p:nvSpPr>
          <p:cNvPr id="26" name="Text 22"/>
          <p:cNvSpPr/>
          <p:nvPr/>
        </p:nvSpPr>
        <p:spPr>
          <a:xfrm>
            <a:off x="5134356" y="296357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3000" dirty="0"/>
          </a:p>
        </p:txBody>
      </p:sp>
      <p:sp>
        <p:nvSpPr>
          <p:cNvPr id="27" name="Shape 23"/>
          <p:cNvSpPr/>
          <p:nvPr/>
        </p:nvSpPr>
        <p:spPr>
          <a:xfrm>
            <a:off x="5646420" y="365760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28" name="Text 24"/>
          <p:cNvSpPr/>
          <p:nvPr/>
        </p:nvSpPr>
        <p:spPr>
          <a:xfrm>
            <a:off x="5646420" y="3657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57344" y="40690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of 8 Phases Complete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4657344" y="4434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125968" y="1783080"/>
            <a:ext cx="3422904" cy="3611880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12700">
            <a:solidFill>
              <a:srgbClr val="FFDAD2"/>
            </a:solidFill>
            <a:prstDash val="solid"/>
          </a:ln>
          <a:effectLst>
            <a:outerShdw sx="100000" sy="100000" kx="0" ky="0" algn="bl" rotWithShape="0" blurRad="152400" dist="38100" dir="5400000">
              <a:srgbClr val="FF6B4A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354568" y="2011680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FFEDE9"/>
          </a:solidFill>
          <a:ln/>
        </p:spPr>
      </p:sp>
      <p:sp>
        <p:nvSpPr>
          <p:cNvPr id="33" name="Shape 29"/>
          <p:cNvSpPr/>
          <p:nvPr/>
        </p:nvSpPr>
        <p:spPr>
          <a:xfrm>
            <a:off x="8473440" y="21488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4" name="Text 30"/>
          <p:cNvSpPr/>
          <p:nvPr/>
        </p:nvSpPr>
        <p:spPr>
          <a:xfrm>
            <a:off x="8656320" y="2011680"/>
            <a:ext cx="255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877300" y="2560320"/>
            <a:ext cx="19202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2</a:t>
            </a:r>
            <a:endParaRPr lang="en-US" sz="3400" dirty="0"/>
          </a:p>
        </p:txBody>
      </p:sp>
      <p:sp>
        <p:nvSpPr>
          <p:cNvPr id="36" name="Shape 32"/>
          <p:cNvSpPr/>
          <p:nvPr/>
        </p:nvSpPr>
        <p:spPr>
          <a:xfrm>
            <a:off x="8959596" y="3328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7" name="Shape 33"/>
          <p:cNvSpPr/>
          <p:nvPr/>
        </p:nvSpPr>
        <p:spPr>
          <a:xfrm>
            <a:off x="9892284" y="3328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38" name="Shape 34"/>
          <p:cNvSpPr/>
          <p:nvPr/>
        </p:nvSpPr>
        <p:spPr>
          <a:xfrm>
            <a:off x="9389364" y="365760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39" name="Text 35"/>
          <p:cNvSpPr/>
          <p:nvPr/>
        </p:nvSpPr>
        <p:spPr>
          <a:xfrm>
            <a:off x="9389364" y="3657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400288" y="40690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Workstreams Complete</a:t>
            </a:r>
            <a:endParaRPr lang="en-US" sz="1450" dirty="0"/>
          </a:p>
        </p:txBody>
      </p:sp>
      <p:sp>
        <p:nvSpPr>
          <p:cNvPr id="41" name="Text 37"/>
          <p:cNvSpPr/>
          <p:nvPr/>
        </p:nvSpPr>
        <p:spPr>
          <a:xfrm>
            <a:off x="8400288" y="4434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40080" y="5577840"/>
            <a:ext cx="10908792" cy="640080"/>
          </a:xfrm>
          <a:prstGeom prst="roundRect">
            <a:avLst>
              <a:gd name="adj" fmla="val 50000"/>
            </a:avLst>
          </a:prstGeom>
          <a:solidFill>
            <a:srgbClr val="17153A"/>
          </a:solidFill>
          <a:ln/>
        </p:spPr>
      </p:sp>
      <p:sp>
        <p:nvSpPr>
          <p:cNvPr id="43" name="Shape 39"/>
          <p:cNvSpPr/>
          <p:nvPr/>
        </p:nvSpPr>
        <p:spPr>
          <a:xfrm>
            <a:off x="731520" y="566928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FFC94A"/>
          </a:solidFill>
          <a:ln/>
        </p:spPr>
      </p:sp>
      <p:sp>
        <p:nvSpPr>
          <p:cNvPr id="44" name="Text 40"/>
          <p:cNvSpPr/>
          <p:nvPr/>
        </p:nvSpPr>
        <p:spPr>
          <a:xfrm>
            <a:off x="731520" y="5669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update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2423160" y="55778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decision is needed this week: can patients turn off SMS reminders and keep email only? (see Decisions Needed)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· App Store Release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Store: Developer Account Verified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0030968" y="896112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10" name="Text 6"/>
          <p:cNvSpPr/>
          <p:nvPr/>
        </p:nvSpPr>
        <p:spPr>
          <a:xfrm>
            <a:off x="10030968" y="8961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 resolved</a:t>
            </a:r>
            <a:endParaRPr lang="en-US" sz="1100" dirty="0"/>
          </a:p>
        </p:txBody>
      </p:sp>
      <p:pic>
        <p:nvPicPr>
          <p:cNvPr id="11" name="Image 2" descr="/var/folders/lw/rmylcyvd5rjfxk9g1z9rrm8w0000gq/T/showship-deck-TUNW17/trail_tl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10908792" cy="16459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645920" y="2404872"/>
            <a:ext cx="548640" cy="548640"/>
          </a:xfrm>
          <a:prstGeom prst="ellipse">
            <a:avLst/>
          </a:prstGeom>
          <a:solidFill>
            <a:srgbClr val="F0503C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F0503C">
                <a:alpha val="2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6459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40080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429658" y="2807208"/>
            <a:ext cx="548640" cy="548640"/>
          </a:xfrm>
          <a:prstGeom prst="ellipse">
            <a:avLst/>
          </a:prstGeom>
          <a:solidFill>
            <a:srgbClr val="6C4CF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6C4CF5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429658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423818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423818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 Received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423818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213397" y="2404872"/>
            <a:ext cx="548640" cy="548640"/>
          </a:xfrm>
          <a:prstGeom prst="ellipse">
            <a:avLst/>
          </a:prstGeom>
          <a:solidFill>
            <a:srgbClr val="6C4CF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6C4CF5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213397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07557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07557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Verified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07557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997135" y="2807208"/>
            <a:ext cx="548640" cy="548640"/>
          </a:xfrm>
          <a:prstGeom prst="ellipse">
            <a:avLst/>
          </a:prstGeom>
          <a:solidFill>
            <a:srgbClr val="6C4CF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6C4CF5">
                <a:alpha val="25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997135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991295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991295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TestFlight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991295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40080" y="5577840"/>
            <a:ext cx="10908792" cy="640080"/>
          </a:xfrm>
          <a:prstGeom prst="roundRect">
            <a:avLst>
              <a:gd name="adj" fmla="val 50000"/>
            </a:avLst>
          </a:prstGeom>
          <a:solidFill>
            <a:srgbClr val="EDEAFE"/>
          </a:solidFill>
          <a:ln/>
        </p:spPr>
      </p:sp>
      <p:sp>
        <p:nvSpPr>
          <p:cNvPr id="33" name="Shape 28"/>
          <p:cNvSpPr/>
          <p:nvPr/>
        </p:nvSpPr>
        <p:spPr>
          <a:xfrm>
            <a:off x="731520" y="56692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34" name="Text 29"/>
          <p:cNvSpPr/>
          <p:nvPr/>
        </p:nvSpPr>
        <p:spPr>
          <a:xfrm>
            <a:off x="731520" y="5669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2697480" y="5577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is published under the company's own verified account, ready for beta testers.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Progress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484632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371600" y="2606040"/>
            <a:ext cx="3383280" cy="338328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F2F1"/>
          </a:solidFill>
          <a:ln/>
        </p:spPr>
      </p:sp>
      <p:sp>
        <p:nvSpPr>
          <p:cNvPr id="11" name="Shape 7"/>
          <p:cNvSpPr/>
          <p:nvPr/>
        </p:nvSpPr>
        <p:spPr>
          <a:xfrm>
            <a:off x="1371600" y="2606040"/>
            <a:ext cx="3383280" cy="3383280"/>
          </a:xfrm>
          <a:prstGeom prst="blockArc">
            <a:avLst>
              <a:gd name="adj1" fmla="val 10800000"/>
              <a:gd name="adj2" fmla="val 17820000"/>
              <a:gd name="adj3" fmla="val 11000"/>
            </a:avLst>
          </a:prstGeom>
          <a:solidFill>
            <a:srgbClr val="10A6A0"/>
          </a:solidFill>
          <a:ln/>
        </p:spPr>
      </p:sp>
      <p:sp>
        <p:nvSpPr>
          <p:cNvPr id="12" name="Text 8"/>
          <p:cNvSpPr/>
          <p:nvPr/>
        </p:nvSpPr>
        <p:spPr>
          <a:xfrm>
            <a:off x="1371600" y="32004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914400" y="4572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Combined Progress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1440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14400" y="5669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= average completion of each track's four phases.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60720" y="1783080"/>
            <a:ext cx="2756916" cy="219456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1938" y="2331720"/>
            <a:ext cx="1554480" cy="155448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F2F1"/>
          </a:solidFill>
          <a:ln/>
        </p:spPr>
      </p:sp>
      <p:sp>
        <p:nvSpPr>
          <p:cNvPr id="18" name="Shape 14"/>
          <p:cNvSpPr/>
          <p:nvPr/>
        </p:nvSpPr>
        <p:spPr>
          <a:xfrm>
            <a:off x="6361938" y="2331720"/>
            <a:ext cx="1554480" cy="1554480"/>
          </a:xfrm>
          <a:prstGeom prst="blockArc">
            <a:avLst>
              <a:gd name="adj1" fmla="val 10800000"/>
              <a:gd name="adj2" fmla="val 17280000"/>
              <a:gd name="adj3" fmla="val 11000"/>
            </a:avLst>
          </a:prstGeom>
          <a:solidFill>
            <a:srgbClr val="10A6A0"/>
          </a:solidFill>
          <a:ln/>
        </p:spPr>
      </p:sp>
      <p:sp>
        <p:nvSpPr>
          <p:cNvPr id="19" name="Text 15"/>
          <p:cNvSpPr/>
          <p:nvPr/>
        </p:nvSpPr>
        <p:spPr>
          <a:xfrm>
            <a:off x="6361938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943600" y="3246120"/>
            <a:ext cx="2391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943600" y="3566160"/>
            <a:ext cx="2391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791956" y="1783080"/>
            <a:ext cx="2756916" cy="219456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CAE2E1"/>
            </a:solidFill>
            <a:prstDash val="solid"/>
          </a:ln>
          <a:effectLst>
            <a:outerShdw sx="100000" sy="100000" kx="0" ky="0" algn="bl" rotWithShape="0" blurRad="127000" dist="25400" dir="5400000">
              <a:srgbClr val="0C7D7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393174" y="2331720"/>
            <a:ext cx="1554480" cy="155448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ECEB"/>
          </a:solidFill>
          <a:ln/>
        </p:spPr>
      </p:sp>
      <p:sp>
        <p:nvSpPr>
          <p:cNvPr id="24" name="Shape 20"/>
          <p:cNvSpPr/>
          <p:nvPr/>
        </p:nvSpPr>
        <p:spPr>
          <a:xfrm>
            <a:off x="9393174" y="2331720"/>
            <a:ext cx="1554480" cy="1554480"/>
          </a:xfrm>
          <a:prstGeom prst="blockArc">
            <a:avLst>
              <a:gd name="adj1" fmla="val 10800000"/>
              <a:gd name="adj2" fmla="val 18360000"/>
              <a:gd name="adj3" fmla="val 11000"/>
            </a:avLst>
          </a:prstGeom>
          <a:solidFill>
            <a:srgbClr val="0C7D78"/>
          </a:solidFill>
          <a:ln/>
        </p:spPr>
      </p:sp>
      <p:sp>
        <p:nvSpPr>
          <p:cNvPr id="25" name="Text 21"/>
          <p:cNvSpPr/>
          <p:nvPr/>
        </p:nvSpPr>
        <p:spPr>
          <a:xfrm>
            <a:off x="9393174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8974836" y="3246120"/>
            <a:ext cx="2391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974836" y="3566160"/>
            <a:ext cx="2391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760720" y="4251960"/>
            <a:ext cx="5788152" cy="1965960"/>
          </a:xfrm>
          <a:prstGeom prst="roundRect">
            <a:avLst>
              <a:gd name="adj" fmla="val 10233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0350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03504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1" name="Shape 27"/>
          <p:cNvSpPr/>
          <p:nvPr/>
        </p:nvSpPr>
        <p:spPr>
          <a:xfrm>
            <a:off x="658368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2" name="Shape 28"/>
          <p:cNvSpPr/>
          <p:nvPr/>
        </p:nvSpPr>
        <p:spPr>
          <a:xfrm>
            <a:off x="713232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3" name="Shape 29"/>
          <p:cNvSpPr/>
          <p:nvPr/>
        </p:nvSpPr>
        <p:spPr>
          <a:xfrm>
            <a:off x="768096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4" name="Shape 30"/>
          <p:cNvSpPr/>
          <p:nvPr/>
        </p:nvSpPr>
        <p:spPr>
          <a:xfrm>
            <a:off x="822960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FDBD9"/>
          </a:solidFill>
          <a:ln/>
        </p:spPr>
      </p:sp>
      <p:sp>
        <p:nvSpPr>
          <p:cNvPr id="35" name="Shape 31"/>
          <p:cNvSpPr/>
          <p:nvPr/>
        </p:nvSpPr>
        <p:spPr>
          <a:xfrm>
            <a:off x="877824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FDBD9"/>
          </a:solidFill>
          <a:ln/>
        </p:spPr>
      </p:sp>
      <p:sp>
        <p:nvSpPr>
          <p:cNvPr id="36" name="Shape 32"/>
          <p:cNvSpPr/>
          <p:nvPr/>
        </p:nvSpPr>
        <p:spPr>
          <a:xfrm>
            <a:off x="932688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AF5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987552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AF5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38" name="Shape 34"/>
          <p:cNvSpPr/>
          <p:nvPr/>
        </p:nvSpPr>
        <p:spPr>
          <a:xfrm>
            <a:off x="6035040" y="5550408"/>
            <a:ext cx="128016" cy="128016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9" name="Text 35"/>
          <p:cNvSpPr/>
          <p:nvPr/>
        </p:nvSpPr>
        <p:spPr>
          <a:xfrm>
            <a:off x="6236208" y="53949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 Completed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7781544" y="5550408"/>
            <a:ext cx="128016" cy="128016"/>
          </a:xfrm>
          <a:prstGeom prst="ellipse">
            <a:avLst/>
          </a:prstGeom>
          <a:solidFill>
            <a:srgbClr val="9FDBD9"/>
          </a:solidFill>
          <a:ln/>
        </p:spPr>
      </p:sp>
      <p:sp>
        <p:nvSpPr>
          <p:cNvPr id="41" name="Text 37"/>
          <p:cNvSpPr/>
          <p:nvPr/>
        </p:nvSpPr>
        <p:spPr>
          <a:xfrm>
            <a:off x="7982712" y="53949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 In Progress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9528048" y="5550408"/>
            <a:ext cx="128016" cy="128016"/>
          </a:xfrm>
          <a:prstGeom prst="ellipse">
            <a:avLst/>
          </a:prstGeom>
          <a:solidFill>
            <a:srgbClr val="C9C6D8"/>
          </a:solidFill>
          <a:ln/>
        </p:spPr>
      </p:sp>
      <p:sp>
        <p:nvSpPr>
          <p:cNvPr id="43" name="Text 39"/>
          <p:cNvSpPr/>
          <p:nvPr/>
        </p:nvSpPr>
        <p:spPr>
          <a:xfrm>
            <a:off x="9729216" y="53949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 Not Started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Phase Breakdown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Status of Each Phase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10908792" cy="2125980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14400" y="2084832"/>
            <a:ext cx="146304" cy="146304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1965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43000" y="2313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778240" y="1920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pPr algn="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track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914400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4EF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16" name="Text 12"/>
          <p:cNvSpPr/>
          <p:nvPr/>
        </p:nvSpPr>
        <p:spPr>
          <a:xfrm>
            <a:off x="1024128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14400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Accounts &amp; Sign-in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22726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4EFEE"/>
          </a:solidFill>
          <a:ln/>
        </p:spPr>
      </p:sp>
      <p:sp>
        <p:nvSpPr>
          <p:cNvPr id="19" name="Shape 15"/>
          <p:cNvSpPr/>
          <p:nvPr/>
        </p:nvSpPr>
        <p:spPr>
          <a:xfrm>
            <a:off x="3522726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0" name="Text 16"/>
          <p:cNvSpPr/>
          <p:nvPr/>
        </p:nvSpPr>
        <p:spPr>
          <a:xfrm>
            <a:off x="3632454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22726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&amp; Maps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31052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4EFEE"/>
          </a:solidFill>
          <a:ln/>
        </p:spPr>
      </p:sp>
      <p:sp>
        <p:nvSpPr>
          <p:cNvPr id="23" name="Shape 19"/>
          <p:cNvSpPr/>
          <p:nvPr/>
        </p:nvSpPr>
        <p:spPr>
          <a:xfrm>
            <a:off x="6131052" y="2743200"/>
            <a:ext cx="1014070" cy="384048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4" name="Text 20"/>
          <p:cNvSpPr/>
          <p:nvPr/>
        </p:nvSpPr>
        <p:spPr>
          <a:xfrm>
            <a:off x="7218274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31052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739378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F1F0F6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8849106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739378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&amp; Receipts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14400" y="34975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 calendar underway; payments are next.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4183380"/>
            <a:ext cx="10908792" cy="2125980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12700">
            <a:solidFill>
              <a:srgbClr val="C9E0E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14400" y="4485132"/>
            <a:ext cx="146304" cy="146304"/>
          </a:xfrm>
          <a:prstGeom prst="ellipse">
            <a:avLst/>
          </a:prstGeom>
          <a:solidFill>
            <a:srgbClr val="0B7470"/>
          </a:solidFill>
          <a:ln/>
        </p:spPr>
      </p:sp>
      <p:sp>
        <p:nvSpPr>
          <p:cNvPr id="32" name="Text 28"/>
          <p:cNvSpPr/>
          <p:nvPr/>
        </p:nvSpPr>
        <p:spPr>
          <a:xfrm>
            <a:off x="1143000" y="43662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1143000" y="47137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778240" y="43205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pPr algn="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track</a:t>
            </a:r>
            <a:endParaRPr lang="en-US" sz="3000" dirty="0"/>
          </a:p>
        </p:txBody>
      </p:sp>
      <p:sp>
        <p:nvSpPr>
          <p:cNvPr id="35" name="Shape 31"/>
          <p:cNvSpPr/>
          <p:nvPr/>
        </p:nvSpPr>
        <p:spPr>
          <a:xfrm>
            <a:off x="914400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3E6E5"/>
          </a:solidFill>
          <a:ln/>
        </p:spPr>
      </p:sp>
      <p:sp>
        <p:nvSpPr>
          <p:cNvPr id="36" name="Shape 32"/>
          <p:cNvSpPr/>
          <p:nvPr/>
        </p:nvSpPr>
        <p:spPr>
          <a:xfrm>
            <a:off x="914400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0B7470"/>
          </a:solidFill>
          <a:ln/>
        </p:spPr>
      </p:sp>
      <p:sp>
        <p:nvSpPr>
          <p:cNvPr id="37" name="Text 33"/>
          <p:cNvSpPr/>
          <p:nvPr/>
        </p:nvSpPr>
        <p:spPr>
          <a:xfrm>
            <a:off x="1024128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914400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Clinic Onboarding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3522726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3E6E5"/>
          </a:solidFill>
          <a:ln/>
        </p:spPr>
      </p:sp>
      <p:sp>
        <p:nvSpPr>
          <p:cNvPr id="40" name="Shape 36"/>
          <p:cNvSpPr/>
          <p:nvPr/>
        </p:nvSpPr>
        <p:spPr>
          <a:xfrm>
            <a:off x="3522726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0B7470"/>
          </a:solidFill>
          <a:ln/>
        </p:spPr>
      </p:sp>
      <p:sp>
        <p:nvSpPr>
          <p:cNvPr id="41" name="Text 37"/>
          <p:cNvSpPr/>
          <p:nvPr/>
        </p:nvSpPr>
        <p:spPr>
          <a:xfrm>
            <a:off x="3632454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3522726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Doctor Schedules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6131052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F1F0F6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44" name="Text 40"/>
          <p:cNvSpPr/>
          <p:nvPr/>
        </p:nvSpPr>
        <p:spPr>
          <a:xfrm>
            <a:off x="6240780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131052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Reports &amp; Exports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8739378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3E6E5"/>
          </a:solidFill>
          <a:ln/>
        </p:spPr>
      </p:sp>
      <p:sp>
        <p:nvSpPr>
          <p:cNvPr id="47" name="Shape 43"/>
          <p:cNvSpPr/>
          <p:nvPr/>
        </p:nvSpPr>
        <p:spPr>
          <a:xfrm>
            <a:off x="8739378" y="5143500"/>
            <a:ext cx="2028139" cy="384048"/>
          </a:xfrm>
          <a:prstGeom prst="roundRect">
            <a:avLst>
              <a:gd name="adj" fmla="val 50000"/>
            </a:avLst>
          </a:prstGeom>
          <a:solidFill>
            <a:srgbClr val="0B7470"/>
          </a:solidFill>
          <a:ln/>
        </p:spPr>
      </p:sp>
      <p:sp>
        <p:nvSpPr>
          <p:cNvPr id="48" name="Text 44"/>
          <p:cNvSpPr/>
          <p:nvPr/>
        </p:nvSpPr>
        <p:spPr>
          <a:xfrm>
            <a:off x="8849106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739378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Reminders &amp; Notifications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914400" y="58978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Reminders are in final review; 4 of 5 parts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What Was Done on Each Task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453384" cy="3694938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1783080"/>
            <a:ext cx="822960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11" name="Shape 7"/>
          <p:cNvSpPr/>
          <p:nvPr/>
        </p:nvSpPr>
        <p:spPr>
          <a:xfrm>
            <a:off x="868680" y="1965960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196596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8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0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0A6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67784" y="1783080"/>
            <a:ext cx="3453384" cy="3694938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596384" y="1783080"/>
            <a:ext cx="822960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9" name="Shape 25"/>
          <p:cNvSpPr/>
          <p:nvPr/>
        </p:nvSpPr>
        <p:spPr>
          <a:xfrm>
            <a:off x="4596384" y="1965960"/>
            <a:ext cx="973836" cy="27432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30" name="Text 26"/>
          <p:cNvSpPr/>
          <p:nvPr/>
        </p:nvSpPr>
        <p:spPr>
          <a:xfrm>
            <a:off x="4596384" y="196596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6" name="Text 32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8" name="Text 34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0" name="Text 36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2" name="Text 38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8095488" y="1783080"/>
            <a:ext cx="3453384" cy="3694938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8324088" y="1783080"/>
            <a:ext cx="822960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45" name="Shape 41"/>
          <p:cNvSpPr/>
          <p:nvPr/>
        </p:nvSpPr>
        <p:spPr>
          <a:xfrm>
            <a:off x="8324088" y="1965960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0F0F3"/>
          </a:solidFill>
          <a:ln/>
        </p:spPr>
      </p:sp>
      <p:sp>
        <p:nvSpPr>
          <p:cNvPr id="46" name="Text 42"/>
          <p:cNvSpPr/>
          <p:nvPr/>
        </p:nvSpPr>
        <p:spPr>
          <a:xfrm>
            <a:off x="8324088" y="196596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8" name="Text 44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· Code Review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Check: Issues Caught Before Release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108960" cy="1356360"/>
          </a:xfrm>
          <a:prstGeom prst="roundRect">
            <a:avLst>
              <a:gd name="adj" fmla="val 14831"/>
            </a:avLst>
          </a:prstGeom>
          <a:solidFill>
            <a:srgbClr val="E9E4FE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1783080"/>
            <a:ext cx="1280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148840" y="1783080"/>
            <a:ext cx="14630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reviewed this week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322320"/>
            <a:ext cx="3108960" cy="1356360"/>
          </a:xfrm>
          <a:prstGeom prst="roundRect">
            <a:avLst>
              <a:gd name="adj" fmla="val 14831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3322320"/>
            <a:ext cx="1280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2148840" y="3322320"/>
            <a:ext cx="14630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for release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861560"/>
            <a:ext cx="3108960" cy="1356360"/>
          </a:xfrm>
          <a:prstGeom prst="roundRect">
            <a:avLst>
              <a:gd name="adj" fmla="val 14831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4861560"/>
            <a:ext cx="1280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2148840" y="4861560"/>
            <a:ext cx="14630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tests passing (100%)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023360" y="1783080"/>
            <a:ext cx="7525512" cy="124663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51960" y="2132076"/>
            <a:ext cx="548640" cy="548640"/>
          </a:xfrm>
          <a:prstGeom prst="ellipse">
            <a:avLst/>
          </a:prstGeom>
          <a:solidFill>
            <a:srgbClr val="10A6A0"/>
          </a:solidFill>
          <a:ln/>
        </p:spPr>
      </p:sp>
      <p:pic>
        <p:nvPicPr>
          <p:cNvPr id="20" name="Image 2" descr="/var/folders/lw/rmylcyvd5rjfxk9g1z9rrm8w0000gq/T/showship-deck-TUNW17/iconc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6923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83480" y="1911096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983480" y="2167128"/>
            <a:ext cx="432511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424160" y="191109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4" name="Text 19"/>
          <p:cNvSpPr/>
          <p:nvPr/>
        </p:nvSpPr>
        <p:spPr>
          <a:xfrm>
            <a:off x="10424160" y="191109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023360" y="3194304"/>
            <a:ext cx="7525512" cy="124663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12700">
            <a:solidFill>
              <a:srgbClr val="FDEBCF"/>
            </a:solidFill>
            <a:prstDash val="solid"/>
          </a:ln>
          <a:effectLst>
            <a:outerShdw sx="100000" sy="100000" kx="0" ky="0" algn="bl" rotWithShape="0" blurRad="127000" dist="25400" dir="5400000">
              <a:srgbClr val="F5A524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251960" y="3543300"/>
            <a:ext cx="548640" cy="548640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7" name="Image 3" descr="/var/folders/lw/rmylcyvd5rjfxk9g1z9rrm8w0000gq/T/showship-deck-TUNW17/iconc_Wre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68046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83480" y="332232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983480" y="3578352"/>
            <a:ext cx="432511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646920" y="3322320"/>
            <a:ext cx="1673352" cy="274320"/>
          </a:xfrm>
          <a:prstGeom prst="roundRect">
            <a:avLst>
              <a:gd name="adj" fmla="val 50000"/>
            </a:avLst>
          </a:prstGeom>
          <a:solidFill>
            <a:srgbClr val="FEF2DE"/>
          </a:solidFill>
          <a:ln/>
        </p:spPr>
      </p:sp>
      <p:sp>
        <p:nvSpPr>
          <p:cNvPr id="31" name="Text 25"/>
          <p:cNvSpPr/>
          <p:nvPr/>
        </p:nvSpPr>
        <p:spPr>
          <a:xfrm>
            <a:off x="9646920" y="33223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023360" y="4605528"/>
            <a:ext cx="7525512" cy="124663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51960" y="4954524"/>
            <a:ext cx="548640" cy="548640"/>
          </a:xfrm>
          <a:prstGeom prst="ellipse">
            <a:avLst/>
          </a:prstGeom>
          <a:solidFill>
            <a:srgbClr val="10A6A0"/>
          </a:solidFill>
          <a:ln/>
        </p:spPr>
      </p:sp>
      <p:pic>
        <p:nvPicPr>
          <p:cNvPr id="34" name="Image 4" descr="/var/folders/lw/rmylcyvd5rjfxk9g1z9rrm8w0000gq/T/showship-deck-TUNW17/iconc_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509168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983480" y="4733544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983480" y="4989576"/>
            <a:ext cx="432511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10424160" y="4733544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38" name="Text 31"/>
          <p:cNvSpPr/>
          <p:nvPr/>
        </p:nvSpPr>
        <p:spPr>
          <a:xfrm>
            <a:off x="10424160" y="473354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023360" y="5925312"/>
            <a:ext cx="7525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Decisions Needed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5294376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CD9D4"/>
            </a:solidFill>
            <a:prstDash val="solid"/>
          </a:ln>
          <a:effectLst>
            <a:outerShdw sx="100000" sy="100000" kx="0" ky="0" algn="bl" rotWithShape="0" blurRad="127000" dist="25400" dir="5400000">
              <a:srgbClr val="F0503C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1783080"/>
            <a:ext cx="5294376" cy="777240"/>
          </a:xfrm>
          <a:prstGeom prst="roundRect">
            <a:avLst>
              <a:gd name="adj" fmla="val 25882"/>
            </a:avLst>
          </a:prstGeom>
          <a:solidFill>
            <a:srgbClr val="F0503C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2240280"/>
            <a:ext cx="5294376" cy="320040"/>
          </a:xfrm>
          <a:prstGeom prst="rect">
            <a:avLst/>
          </a:prstGeom>
          <a:solidFill>
            <a:srgbClr val="F0503C"/>
          </a:solidFill>
          <a:ln/>
        </p:spPr>
      </p:sp>
      <p:pic>
        <p:nvPicPr>
          <p:cNvPr id="12" name="Image 2" descr="/var/folders/lw/rmylcyvd5rjfxk9g1z9rrm8w0000gq/T/showship-deck-TUNW17/iconc_Triangle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178308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Risks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65776" y="1938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960120" y="2807208"/>
            <a:ext cx="402336" cy="402336"/>
          </a:xfrm>
          <a:prstGeom prst="ellipse">
            <a:avLst/>
          </a:prstGeom>
          <a:solidFill>
            <a:srgbClr val="FDE5E2"/>
          </a:solidFill>
          <a:ln/>
        </p:spPr>
      </p:sp>
      <p:sp>
        <p:nvSpPr>
          <p:cNvPr id="16" name="Text 11"/>
          <p:cNvSpPr/>
          <p:nvPr/>
        </p:nvSpPr>
        <p:spPr>
          <a:xfrm>
            <a:off x="96012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08760" y="2788920"/>
            <a:ext cx="4105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Reminders release waiting on one fix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reminders must be prevented before release. Fix is small and already tested.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Nina Rao @Nina · Expected: next week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54496" y="1783080"/>
            <a:ext cx="5294376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DFD8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54496" y="1783080"/>
            <a:ext cx="5294376" cy="777240"/>
          </a:xfrm>
          <a:prstGeom prst="roundRect">
            <a:avLst>
              <a:gd name="adj" fmla="val 25882"/>
            </a:avLst>
          </a:prstGeom>
          <a:solidFill>
            <a:srgbClr val="6C4C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254496" y="2240280"/>
            <a:ext cx="5294376" cy="320040"/>
          </a:xfrm>
          <a:prstGeom prst="rect">
            <a:avLst/>
          </a:prstGeom>
          <a:solidFill>
            <a:srgbClr val="6C4CF5"/>
          </a:solidFill>
          <a:ln/>
        </p:spPr>
      </p:sp>
      <p:pic>
        <p:nvPicPr>
          <p:cNvPr id="21" name="Image 3" descr="/var/folders/lw/rmylcyvd5rjfxk9g1z9rrm8w0000gq/T/showship-deck-TUNW17/iconc_MessageCircleQuestio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0116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178308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Decisions Needed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680192" y="1938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574536" y="2807208"/>
            <a:ext cx="402336" cy="402336"/>
          </a:xfrm>
          <a:prstGeom prst="ellipse">
            <a:avLst/>
          </a:prstGeom>
          <a:solidFill>
            <a:srgbClr val="E9E4FE"/>
          </a:solidFill>
          <a:ln/>
        </p:spPr>
      </p:sp>
      <p:sp>
        <p:nvSpPr>
          <p:cNvPr id="25" name="Text 19"/>
          <p:cNvSpPr/>
          <p:nvPr/>
        </p:nvSpPr>
        <p:spPr>
          <a:xfrm>
            <a:off x="6574536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123176" y="2788920"/>
            <a:ext cx="4105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patients turn off SMS reminders and keep email only?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every patient with a phone number receives SMS reminders; some clinics report complaints.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Options: allow opt-out · clinic decides per patient · keep as today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· Task Tracker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Task Track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453384" cy="420624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2039112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350008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14400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15" name="Shape 11"/>
          <p:cNvSpPr/>
          <p:nvPr/>
        </p:nvSpPr>
        <p:spPr>
          <a:xfrm>
            <a:off x="1271016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16" name="Shape 12"/>
          <p:cNvSpPr/>
          <p:nvPr/>
        </p:nvSpPr>
        <p:spPr>
          <a:xfrm>
            <a:off x="1627632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17" name="Shape 13"/>
          <p:cNvSpPr/>
          <p:nvPr/>
        </p:nvSpPr>
        <p:spPr>
          <a:xfrm>
            <a:off x="198424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EFEE"/>
          </a:solidFill>
          <a:ln/>
        </p:spPr>
      </p:sp>
      <p:sp>
        <p:nvSpPr>
          <p:cNvPr id="18" name="Shape 14"/>
          <p:cNvSpPr/>
          <p:nvPr/>
        </p:nvSpPr>
        <p:spPr>
          <a:xfrm>
            <a:off x="2340864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EFEE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320040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 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904744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914400" y="3593592"/>
            <a:ext cx="2904744" cy="128016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22" name="Shape 18"/>
          <p:cNvSpPr/>
          <p:nvPr/>
        </p:nvSpPr>
        <p:spPr>
          <a:xfrm>
            <a:off x="914400" y="3593592"/>
            <a:ext cx="1742846" cy="128016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3" name="Text 19"/>
          <p:cNvSpPr/>
          <p:nvPr/>
        </p:nvSpPr>
        <p:spPr>
          <a:xfrm>
            <a:off x="914400" y="3813048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14400" y="453542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5" name="Text 21"/>
          <p:cNvSpPr/>
          <p:nvPr/>
        </p:nvSpPr>
        <p:spPr>
          <a:xfrm>
            <a:off x="1188720" y="448056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14400" y="488975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7" name="Text 23"/>
          <p:cNvSpPr/>
          <p:nvPr/>
        </p:nvSpPr>
        <p:spPr>
          <a:xfrm>
            <a:off x="1188720" y="483489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914400" y="5244084"/>
            <a:ext cx="164592" cy="164592"/>
          </a:xfrm>
          <a:prstGeom prst="ellipse">
            <a:avLst/>
          </a:prstGeom>
          <a:solidFill>
            <a:srgbClr val="9FDBD9"/>
          </a:solidFill>
          <a:ln/>
        </p:spPr>
      </p:sp>
      <p:sp>
        <p:nvSpPr>
          <p:cNvPr id="29" name="Text 25"/>
          <p:cNvSpPr/>
          <p:nvPr/>
        </p:nvSpPr>
        <p:spPr>
          <a:xfrm>
            <a:off x="1188720" y="518922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14400" y="559841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6D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88720" y="554355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367784" y="1783080"/>
            <a:ext cx="3453384" cy="420624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642104" y="2057400"/>
            <a:ext cx="566928" cy="566928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4" name="Text 30"/>
          <p:cNvSpPr/>
          <p:nvPr/>
        </p:nvSpPr>
        <p:spPr>
          <a:xfrm>
            <a:off x="464210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NR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5327904" y="2039112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327904" y="2350008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642104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38" name="Shape 34"/>
          <p:cNvSpPr/>
          <p:nvPr/>
        </p:nvSpPr>
        <p:spPr>
          <a:xfrm>
            <a:off x="4998720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39" name="Shape 35"/>
          <p:cNvSpPr/>
          <p:nvPr/>
        </p:nvSpPr>
        <p:spPr>
          <a:xfrm>
            <a:off x="5355336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40" name="Shape 36"/>
          <p:cNvSpPr/>
          <p:nvPr/>
        </p:nvSpPr>
        <p:spPr>
          <a:xfrm>
            <a:off x="5711952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41" name="Shape 37"/>
          <p:cNvSpPr/>
          <p:nvPr/>
        </p:nvSpPr>
        <p:spPr>
          <a:xfrm>
            <a:off x="606856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EFEE"/>
          </a:solidFill>
          <a:ln/>
        </p:spPr>
      </p:sp>
      <p:sp>
        <p:nvSpPr>
          <p:cNvPr id="42" name="Text 38"/>
          <p:cNvSpPr/>
          <p:nvPr/>
        </p:nvSpPr>
        <p:spPr>
          <a:xfrm>
            <a:off x="4642104" y="320040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 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632448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4642104" y="3593592"/>
            <a:ext cx="2904744" cy="128016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642104" y="3593592"/>
            <a:ext cx="2033321" cy="128016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46" name="Text 42"/>
          <p:cNvSpPr/>
          <p:nvPr/>
        </p:nvSpPr>
        <p:spPr>
          <a:xfrm>
            <a:off x="4642104" y="3813048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642104" y="453542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8" name="Text 44"/>
          <p:cNvSpPr/>
          <p:nvPr/>
        </p:nvSpPr>
        <p:spPr>
          <a:xfrm>
            <a:off x="4916424" y="448056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4642104" y="488975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50" name="Text 46"/>
          <p:cNvSpPr/>
          <p:nvPr/>
        </p:nvSpPr>
        <p:spPr>
          <a:xfrm>
            <a:off x="4916424" y="483489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4642104" y="5244084"/>
            <a:ext cx="164592" cy="164592"/>
          </a:xfrm>
          <a:prstGeom prst="ellipse">
            <a:avLst/>
          </a:prstGeom>
          <a:solidFill>
            <a:srgbClr val="9FDBD9"/>
          </a:solidFill>
          <a:ln/>
        </p:spPr>
      </p:sp>
      <p:sp>
        <p:nvSpPr>
          <p:cNvPr id="52" name="Text 48"/>
          <p:cNvSpPr/>
          <p:nvPr/>
        </p:nvSpPr>
        <p:spPr>
          <a:xfrm>
            <a:off x="4916424" y="518922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4642104" y="559841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6D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916424" y="554355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095488" y="1783080"/>
            <a:ext cx="3453384" cy="420624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FFDED7"/>
            </a:solidFill>
            <a:prstDash val="solid"/>
          </a:ln>
          <a:effectLst>
            <a:outerShdw sx="100000" sy="100000" kx="0" ky="0" algn="bl" rotWithShape="0" blurRad="127000" dist="25400" dir="5400000">
              <a:srgbClr val="FF6B4A">
                <a:alpha val="10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8369808" y="205740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7" name="Text 53"/>
          <p:cNvSpPr/>
          <p:nvPr/>
        </p:nvSpPr>
        <p:spPr>
          <a:xfrm>
            <a:off x="836980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9055608" y="2039112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9055608" y="2350008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836980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1" name="Shape 57"/>
          <p:cNvSpPr/>
          <p:nvPr/>
        </p:nvSpPr>
        <p:spPr>
          <a:xfrm>
            <a:off x="8726424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2" name="Shape 58"/>
          <p:cNvSpPr/>
          <p:nvPr/>
        </p:nvSpPr>
        <p:spPr>
          <a:xfrm>
            <a:off x="9083040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3" name="Shape 59"/>
          <p:cNvSpPr/>
          <p:nvPr/>
        </p:nvSpPr>
        <p:spPr>
          <a:xfrm>
            <a:off x="9439656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4" name="Shape 60"/>
          <p:cNvSpPr/>
          <p:nvPr/>
        </p:nvSpPr>
        <p:spPr>
          <a:xfrm>
            <a:off x="9796272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5" name="Shape 61"/>
          <p:cNvSpPr/>
          <p:nvPr/>
        </p:nvSpPr>
        <p:spPr>
          <a:xfrm>
            <a:off x="1015288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E4DE"/>
          </a:solidFill>
          <a:ln/>
        </p:spPr>
      </p:sp>
      <p:sp>
        <p:nvSpPr>
          <p:cNvPr id="66" name="Text 62"/>
          <p:cNvSpPr/>
          <p:nvPr/>
        </p:nvSpPr>
        <p:spPr>
          <a:xfrm>
            <a:off x="8369808" y="320040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 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</a:t>
            </a:r>
            <a:endParaRPr lang="en-US" sz="1100" dirty="0"/>
          </a:p>
        </p:txBody>
      </p:sp>
      <p:sp>
        <p:nvSpPr>
          <p:cNvPr id="67" name="Text 63"/>
          <p:cNvSpPr/>
          <p:nvPr/>
        </p:nvSpPr>
        <p:spPr>
          <a:xfrm>
            <a:off x="10360152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</a:t>
            </a:r>
            <a:endParaRPr lang="en-US" sz="1800" dirty="0"/>
          </a:p>
        </p:txBody>
      </p:sp>
      <p:sp>
        <p:nvSpPr>
          <p:cNvPr id="68" name="Shape 64"/>
          <p:cNvSpPr/>
          <p:nvPr/>
        </p:nvSpPr>
        <p:spPr>
          <a:xfrm>
            <a:off x="8369808" y="3593592"/>
            <a:ext cx="2904744" cy="128016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69" name="Shape 65"/>
          <p:cNvSpPr/>
          <p:nvPr/>
        </p:nvSpPr>
        <p:spPr>
          <a:xfrm>
            <a:off x="8369808" y="3593592"/>
            <a:ext cx="2178558" cy="12801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70" name="Text 66"/>
          <p:cNvSpPr/>
          <p:nvPr/>
        </p:nvSpPr>
        <p:spPr>
          <a:xfrm>
            <a:off x="8369808" y="3813048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71" name="Shape 67"/>
          <p:cNvSpPr/>
          <p:nvPr/>
        </p:nvSpPr>
        <p:spPr>
          <a:xfrm>
            <a:off x="8369808" y="45354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2" name="Text 68"/>
          <p:cNvSpPr/>
          <p:nvPr/>
        </p:nvSpPr>
        <p:spPr>
          <a:xfrm>
            <a:off x="8644128" y="448056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73" name="Shape 69"/>
          <p:cNvSpPr/>
          <p:nvPr/>
        </p:nvSpPr>
        <p:spPr>
          <a:xfrm>
            <a:off x="8369808" y="488975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4" name="Text 70"/>
          <p:cNvSpPr/>
          <p:nvPr/>
        </p:nvSpPr>
        <p:spPr>
          <a:xfrm>
            <a:off x="8644128" y="483489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75" name="Shape 71"/>
          <p:cNvSpPr/>
          <p:nvPr/>
        </p:nvSpPr>
        <p:spPr>
          <a:xfrm>
            <a:off x="8369808" y="5244084"/>
            <a:ext cx="164592" cy="164592"/>
          </a:xfrm>
          <a:prstGeom prst="ellipse">
            <a:avLst/>
          </a:prstGeom>
          <a:solidFill>
            <a:srgbClr val="FFC4B7"/>
          </a:solidFill>
          <a:ln/>
        </p:spPr>
      </p:sp>
      <p:sp>
        <p:nvSpPr>
          <p:cNvPr id="76" name="Text 72"/>
          <p:cNvSpPr/>
          <p:nvPr/>
        </p:nvSpPr>
        <p:spPr>
          <a:xfrm>
            <a:off x="8644128" y="518922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77" name="Shape 73"/>
          <p:cNvSpPr/>
          <p:nvPr/>
        </p:nvSpPr>
        <p:spPr>
          <a:xfrm>
            <a:off x="8369808" y="559841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8" name="Text 74"/>
          <p:cNvSpPr/>
          <p:nvPr/>
        </p:nvSpPr>
        <p:spPr>
          <a:xfrm>
            <a:off x="8644128" y="554355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9" name="Text 75"/>
          <p:cNvSpPr/>
          <p:nvPr/>
        </p:nvSpPr>
        <p:spPr>
          <a:xfrm>
            <a:off x="640080" y="6062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Activity · GitHub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Delivery Activity This Week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772668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DFD8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822960" y="1920240"/>
          <a:ext cx="73609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914400" y="576072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641080" y="1783080"/>
            <a:ext cx="2907792" cy="1344168"/>
          </a:xfrm>
          <a:prstGeom prst="roundRect">
            <a:avLst>
              <a:gd name="adj" fmla="val 14966"/>
            </a:avLst>
          </a:prstGeom>
          <a:solidFill>
            <a:srgbClr val="6C4CF5"/>
          </a:solidFill>
          <a:ln/>
          <a:effectLst>
            <a:outerShdw sx="100000" sy="100000" kx="0" ky="0" algn="bl" rotWithShape="0" blurRad="127000" dist="25400" dir="5400000">
              <a:srgbClr val="6C4CF5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915400" y="1874520"/>
            <a:ext cx="23591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8915400" y="2562697"/>
            <a:ext cx="2359152" cy="47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approved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641080" y="3328416"/>
            <a:ext cx="2907792" cy="1344168"/>
          </a:xfrm>
          <a:prstGeom prst="roundRect">
            <a:avLst>
              <a:gd name="adj" fmla="val 14966"/>
            </a:avLst>
          </a:prstGeom>
          <a:solidFill>
            <a:srgbClr val="FFFFFF"/>
          </a:solidFill>
          <a:ln w="12700">
            <a:solidFill>
              <a:srgbClr val="DAD2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915400" y="3419856"/>
            <a:ext cx="23591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915400" y="4108033"/>
            <a:ext cx="2359152" cy="47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final review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641080" y="4873752"/>
            <a:ext cx="2907792" cy="1344168"/>
          </a:xfrm>
          <a:prstGeom prst="roundRect">
            <a:avLst>
              <a:gd name="adj" fmla="val 14966"/>
            </a:avLst>
          </a:prstGeom>
          <a:solidFill>
            <a:srgbClr val="FFFFFF"/>
          </a:solidFill>
          <a:ln w="12700">
            <a:solidFill>
              <a:srgbClr val="DAD2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915400" y="4965192"/>
            <a:ext cx="23591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915400" y="5653369"/>
            <a:ext cx="2359152" cy="47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reviews completed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Week's Plan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5156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/ track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5661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169164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720072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057400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05740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566160" y="2308860"/>
            <a:ext cx="365760" cy="365760"/>
          </a:xfrm>
          <a:prstGeom prst="ellipse">
            <a:avLst/>
          </a:prstGeom>
          <a:solidFill>
            <a:srgbClr val="D4EFEE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2308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LP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023360" y="20574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94960" y="2057400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0424160" y="235458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21" name="Text 17"/>
          <p:cNvSpPr/>
          <p:nvPr/>
        </p:nvSpPr>
        <p:spPr>
          <a:xfrm>
            <a:off x="10424160" y="23545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40%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3054096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3054096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4" name="Text 20"/>
          <p:cNvSpPr/>
          <p:nvPr/>
        </p:nvSpPr>
        <p:spPr>
          <a:xfrm>
            <a:off x="1051560" y="305409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566160" y="3305556"/>
            <a:ext cx="365760" cy="365760"/>
          </a:xfrm>
          <a:prstGeom prst="ellipse">
            <a:avLst/>
          </a:prstGeom>
          <a:solidFill>
            <a:srgbClr val="D4EFEE"/>
          </a:solidFill>
          <a:ln/>
        </p:spPr>
      </p:sp>
      <p:sp>
        <p:nvSpPr>
          <p:cNvPr id="26" name="Text 22"/>
          <p:cNvSpPr/>
          <p:nvPr/>
        </p:nvSpPr>
        <p:spPr>
          <a:xfrm>
            <a:off x="3566160" y="33055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023360" y="3054096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394960" y="3054096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10424160" y="335127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30" name="Text 26"/>
          <p:cNvSpPr/>
          <p:nvPr/>
        </p:nvSpPr>
        <p:spPr>
          <a:xfrm>
            <a:off x="10424160" y="33512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80%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0080" y="4050792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FFDED7"/>
            </a:solidFill>
            <a:prstDash val="solid"/>
          </a:ln>
          <a:effectLst>
            <a:outerShdw sx="100000" sy="100000" kx="0" ky="0" algn="bl" rotWithShape="0" blurRad="127000" dist="25400" dir="5400000">
              <a:srgbClr val="FF6B4A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40080" y="405079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3" name="Text 29"/>
          <p:cNvSpPr/>
          <p:nvPr/>
        </p:nvSpPr>
        <p:spPr>
          <a:xfrm>
            <a:off x="1051560" y="40507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Usage Tracking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3566160" y="4302252"/>
            <a:ext cx="365760" cy="365760"/>
          </a:xfrm>
          <a:prstGeom prst="ellipse">
            <a:avLst/>
          </a:prstGeom>
          <a:solidFill>
            <a:srgbClr val="FFE4DE"/>
          </a:solidFill>
          <a:ln/>
        </p:spPr>
      </p:sp>
      <p:sp>
        <p:nvSpPr>
          <p:cNvPr id="35" name="Text 31"/>
          <p:cNvSpPr/>
          <p:nvPr/>
        </p:nvSpPr>
        <p:spPr>
          <a:xfrm>
            <a:off x="3566160" y="43022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023360" y="40507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394960" y="4050792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10190988" y="4347972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39" name="Text 35"/>
          <p:cNvSpPr/>
          <p:nvPr/>
        </p:nvSpPr>
        <p:spPr>
          <a:xfrm>
            <a:off x="10190988" y="4347972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40080" y="5047488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DFD8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40080" y="5047488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42" name="Text 38"/>
          <p:cNvSpPr/>
          <p:nvPr/>
        </p:nvSpPr>
        <p:spPr>
          <a:xfrm>
            <a:off x="1051560" y="50474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3566160" y="5298948"/>
            <a:ext cx="365760" cy="365760"/>
          </a:xfrm>
          <a:prstGeom prst="ellipse">
            <a:avLst/>
          </a:prstGeom>
          <a:solidFill>
            <a:srgbClr val="E5DFFD"/>
          </a:solidFill>
          <a:ln/>
        </p:spPr>
      </p:sp>
      <p:sp>
        <p:nvSpPr>
          <p:cNvPr id="44" name="Text 40"/>
          <p:cNvSpPr/>
          <p:nvPr/>
        </p:nvSpPr>
        <p:spPr>
          <a:xfrm>
            <a:off x="3566160" y="5298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023360" y="504748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5394960" y="5047488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10190988" y="5344668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0F0F3"/>
          </a:solidFill>
          <a:ln/>
        </p:spPr>
      </p:sp>
      <p:sp>
        <p:nvSpPr>
          <p:cNvPr id="48" name="Text 44"/>
          <p:cNvSpPr/>
          <p:nvPr/>
        </p:nvSpPr>
        <p:spPr>
          <a:xfrm>
            <a:off x="10190988" y="5344668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TUNW17/trail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TUNW17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44" y="658368"/>
            <a:ext cx="521232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592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40080" y="2468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566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40080" y="5577840"/>
            <a:ext cx="1719072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87752" y="5577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87752" y="5577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11" name="Image 2" descr="/var/folders/lw/rmylcyvd5rjfxk9g1z9rrm8w0000gq/T/showship-deck-TUNW17/trail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7607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66960" y="5733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2026-10-22T10:55:40Z</dcterms:created>
  <dcterms:modified xsi:type="dcterms:W3CDTF">2026-10-22T10:55:40Z</dcterms:modified>
</cp:coreProperties>
</file>